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Severity - DIAL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Severity - 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19</c:v>
                </c:pt>
                <c:pt idx="2">
                  <c:v>24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Severity - HIAL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Severity - MRO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Status - DIAL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84D158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cat>
            <c:strRef>
              <c:f>Sheet1!$A$2:$A$3</c:f>
              <c:strCache>
                <c:ptCount val="2"/>
                <c:pt idx="0">
                  <c:v>Closed</c:v>
                </c:pt>
                <c:pt idx="1">
                  <c:v>WIP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Status - 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84D158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cat>
            <c:strRef>
              <c:f>Sheet1!$A$2:$A$3</c:f>
              <c:strCache>
                <c:ptCount val="2"/>
                <c:pt idx="0">
                  <c:v>Closed</c:v>
                </c:pt>
                <c:pt idx="1">
                  <c:v>WIP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Status - HIAL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84D158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cat>
            <c:strRef>
              <c:f>Sheet1!$A$2:$A$3</c:f>
              <c:strCache>
                <c:ptCount val="2"/>
                <c:pt idx="0">
                  <c:v>Closed</c:v>
                </c:pt>
                <c:pt idx="1">
                  <c:v>WIP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Status - MRO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84D158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cat>
            <c:strRef>
              <c:f>Sheet1!$A$2:$A$3</c:f>
              <c:strCache>
                <c:ptCount val="2"/>
                <c:pt idx="0">
                  <c:v>Closed</c:v>
                </c:pt>
                <c:pt idx="1">
                  <c:v>WIP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Efficacy - DIAL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84D158"/>
              </a:solidFill>
            </c:spPr>
          </c:dPt>
          <c:cat>
            <c:strRef>
              <c:f>Sheet1!$A$2:$A$3</c:f>
              <c:strCache>
                <c:ptCount val="2"/>
                <c:pt idx="0">
                  <c:v>True Positive</c:v>
                </c:pt>
                <c:pt idx="1">
                  <c:v>False Positive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Efficacy - 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84D158"/>
              </a:solidFill>
            </c:spPr>
          </c:dPt>
          <c:cat>
            <c:strRef>
              <c:f>Sheet1!$A$2:$A$3</c:f>
              <c:strCache>
                <c:ptCount val="2"/>
                <c:pt idx="0">
                  <c:v>True Positive</c:v>
                </c:pt>
                <c:pt idx="1">
                  <c:v>False Positive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Efficacy - HIAL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84D158"/>
              </a:solidFill>
            </c:spPr>
          </c:dPt>
          <c:cat>
            <c:strRef>
              <c:f>Sheet1!$A$2:$A$3</c:f>
              <c:strCache>
                <c:ptCount val="2"/>
                <c:pt idx="0">
                  <c:v>True Positive</c:v>
                </c:pt>
                <c:pt idx="1">
                  <c:v>False Positive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Alert Efficacy - MRO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84D158"/>
              </a:solidFill>
            </c:spPr>
          </c:dPt>
          <c:cat>
            <c:strRef>
              <c:f>Sheet1!$A$2:$A$3</c:f>
              <c:strCache>
                <c:ptCount val="2"/>
                <c:pt idx="0">
                  <c:v>True Positive</c:v>
                </c:pt>
                <c:pt idx="1">
                  <c:v>False Positive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DIAL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ln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ln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7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HIAL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ln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MRO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ln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0</c:v>
                </c:pt>
                <c:pt idx="6">
                  <c:v>7</c:v>
                </c:pt>
                <c:pt idx="7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2025-11-30</c:v>
                </c:pt>
                <c:pt idx="1">
                  <c:v>2025-12-01</c:v>
                </c:pt>
                <c:pt idx="2">
                  <c:v>2025-12-02</c:v>
                </c:pt>
                <c:pt idx="3">
                  <c:v>2025-12-03</c:v>
                </c:pt>
                <c:pt idx="4">
                  <c:v>2025-12-04</c:v>
                </c:pt>
                <c:pt idx="5">
                  <c:v>2025-12-05</c:v>
                </c:pt>
                <c:pt idx="6">
                  <c:v>2025-12-06</c:v>
                </c:pt>
                <c:pt idx="7">
                  <c:v>2025-12-07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Summary of Alerts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dPt>
            <c:idx val="2"/>
            <c:spPr>
              <a:solidFill>
                <a:srgbClr val="ED7D31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4"/>
            <c:spPr>
              <a:solidFill>
                <a:srgbClr val="FFC000"/>
              </a:solidFill>
            </c:spPr>
          </c:dPt>
          <c:dPt>
            <c:idx val="5"/>
            <c:spPr>
              <a:solidFill>
                <a:srgbClr val="C00000"/>
              </a:solidFill>
            </c:spPr>
          </c:dPt>
          <c:dPt>
            <c:idx val="6"/>
            <c:spPr>
              <a:solidFill>
                <a:srgbClr val="A6A6A6"/>
              </a:solidFill>
            </c:spPr>
          </c:dPt>
          <c:dPt>
            <c:idx val="7"/>
            <c:spPr>
              <a:solidFill>
                <a:srgbClr val="C00000"/>
              </a:solidFill>
            </c:spPr>
          </c:dPt>
          <c:dPt>
            <c:idx val="8"/>
            <c:spPr>
              <a:solidFill>
                <a:srgbClr val="ED7D31"/>
              </a:solidFill>
            </c:spPr>
          </c:dPt>
          <c:dPt>
            <c:idx val="9"/>
            <c:spPr>
              <a:solidFill>
                <a:srgbClr val="C00000"/>
              </a:solidFill>
            </c:spPr>
          </c:dPt>
          <c:dPt>
            <c:idx val="10"/>
            <c:spPr>
              <a:solidFill>
                <a:srgbClr val="C00000"/>
              </a:solidFill>
            </c:spPr>
          </c:dPt>
          <c:dPt>
            <c:idx val="11"/>
            <c:spPr>
              <a:solidFill>
                <a:srgbClr val="ED7D31"/>
              </a:solidFill>
            </c:spPr>
          </c:dPt>
          <c:dPt>
            <c:idx val="12"/>
            <c:spPr>
              <a:solidFill>
                <a:srgbClr val="A6A6A6"/>
              </a:solidFill>
            </c:spPr>
          </c:dPt>
          <c:dPt>
            <c:idx val="13"/>
            <c:spPr>
              <a:solidFill>
                <a:srgbClr val="FFC000"/>
              </a:solidFill>
            </c:spPr>
          </c:dPt>
          <c:cat>
            <c:strRef>
              <c:f>Sheet1!$A$2:$A$15</c:f>
              <c:strCache>
                <c:ptCount val="14"/>
                <c:pt idx="0">
                  <c:v>Critical
closed
DIAL</c:v>
                </c:pt>
                <c:pt idx="1">
                  <c:v>Critical
closed
ENT</c:v>
                </c:pt>
                <c:pt idx="2">
                  <c:v>High
closed
ENT</c:v>
                </c:pt>
                <c:pt idx="3">
                  <c:v>Medium
closed
ENT</c:v>
                </c:pt>
                <c:pt idx="4">
                  <c:v>Low
closed
ENT</c:v>
                </c:pt>
                <c:pt idx="5">
                  <c:v>Critical
WIP
ENT</c:v>
                </c:pt>
                <c:pt idx="6">
                  <c:v>Medium
WIP
ENT</c:v>
                </c:pt>
                <c:pt idx="7">
                  <c:v>Critical
closed
HIAL</c:v>
                </c:pt>
                <c:pt idx="8">
                  <c:v>High
closed
HIAL</c:v>
                </c:pt>
                <c:pt idx="9">
                  <c:v>Critical
WIP
HIAL</c:v>
                </c:pt>
                <c:pt idx="10">
                  <c:v>Critical
closed
MRO</c:v>
                </c:pt>
                <c:pt idx="11">
                  <c:v>High
closed
MRO</c:v>
                </c:pt>
                <c:pt idx="12">
                  <c:v>Medium
closed
MRO</c:v>
                </c:pt>
                <c:pt idx="13">
                  <c:v>Low
WIP
MRO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</c:v>
                </c:pt>
                <c:pt idx="1">
                  <c:v>5</c:v>
                </c:pt>
                <c:pt idx="2">
                  <c:v>19</c:v>
                </c:pt>
                <c:pt idx="3">
                  <c:v>19</c:v>
                </c:pt>
                <c:pt idx="4">
                  <c:v>6</c:v>
                </c:pt>
                <c:pt idx="5">
                  <c:v>1</c:v>
                </c:pt>
                <c:pt idx="6">
                  <c:v>5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2</c:v>
                </c:pt>
                <c:pt idx="11">
                  <c:v>7</c:v>
                </c:pt>
                <c:pt idx="12">
                  <c:v>10</c:v>
                </c:pt>
                <c:pt idx="1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</a:defRPr>
            </a:pPr>
            <a:r>
              <a:t>www.gmrgroup.in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13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4472C4"/>
                </a:solidFill>
              </a:defRPr>
            </a:pPr>
            <a:r>
              <a:t>EDR Weekly Incident Metrics (01st Dec 25 to 07th Dec 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Alert Severity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27432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74720" y="1097280"/>
          <a:ext cx="2743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291840"/>
          <a:ext cx="27432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474720" y="3291840"/>
          <a:ext cx="274320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097280"/>
          <a:ext cx="4846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Alerts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- 6</a:t>
                      </a:r>
                    </a:p>
                    <a:p>
                      <a:r>
                        <a:t>High - 19</a:t>
                      </a:r>
                    </a:p>
                    <a:p>
                      <a:r>
                        <a:t>Medium - 24</a:t>
                      </a:r>
                    </a:p>
                    <a:p>
                      <a:r>
                        <a:t>Low - 6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- 2</a:t>
                      </a:r>
                    </a:p>
                    <a:p>
                      <a:r>
                        <a:t>High - 2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MRO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- 2</a:t>
                      </a:r>
                    </a:p>
                    <a:p>
                      <a:r>
                        <a:t>High - 7</a:t>
                      </a:r>
                    </a:p>
                    <a:p>
                      <a:r>
                        <a:t>Medium - 10</a:t>
                      </a:r>
                    </a:p>
                    <a:p>
                      <a:r>
                        <a:t>Low - 3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Alert Status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27432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74720" y="1097280"/>
          <a:ext cx="2743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291840"/>
          <a:ext cx="27432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474720" y="3291840"/>
          <a:ext cx="274320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097280"/>
          <a:ext cx="4846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Alerts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WIP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- 0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- 5</a:t>
                      </a:r>
                    </a:p>
                    <a:p>
                      <a:r>
                        <a:t>High - 19</a:t>
                      </a:r>
                    </a:p>
                    <a:p>
                      <a:r>
                        <a:t>Medium - 19</a:t>
                      </a:r>
                    </a:p>
                    <a:p>
                      <a:r>
                        <a:t>Low - 6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- 5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- 2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MRO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- 2</a:t>
                      </a:r>
                    </a:p>
                    <a:p>
                      <a:r>
                        <a:t>High - 7</a:t>
                      </a:r>
                    </a:p>
                    <a:p>
                      <a:r>
                        <a:t>Medium - 10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- 0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- 3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Alert Efficacy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27432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74720" y="1097280"/>
          <a:ext cx="2743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291840"/>
          <a:ext cx="27432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474720" y="3291840"/>
          <a:ext cx="274320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097280"/>
          <a:ext cx="4846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Alerts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Alert efficacy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True Positive - 0</a:t>
                      </a:r>
                    </a:p>
                    <a:p>
                      <a:r>
                        <a:t>False Positive - 1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True Positive - 0</a:t>
                      </a:r>
                    </a:p>
                    <a:p>
                      <a:r>
                        <a:t>False Positive - 49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True Positive - 0</a:t>
                      </a:r>
                    </a:p>
                    <a:p>
                      <a:r>
                        <a:t>False Positive - 3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MRO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True Positive - 0</a:t>
                      </a:r>
                    </a:p>
                    <a:p>
                      <a:r>
                        <a:t>False Positive - 19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548640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00000"/>
                </a:solidFill>
              </a:defRPr>
            </a:pPr>
            <a:r>
              <a:t>Note: True Positive/False Positive data not available in combined.xlsx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Alert Trend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27432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74720" y="1097280"/>
          <a:ext cx="27432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657600"/>
          <a:ext cx="27432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474720" y="3657600"/>
          <a:ext cx="2743200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82880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0000"/>
                </a:solidFill>
              </a:defRPr>
            </a:pPr>
            <a:r>
              <a:t>Note: Daily trend data not available in combined.xlsx</a:t>
            </a:r>
          </a:p>
          <a:p>
            <a:r>
              <a:t>Placeholder charts shown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Summary of Alerts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09728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Alerts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WIP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- 0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- 6</a:t>
                      </a:r>
                    </a:p>
                    <a:p>
                      <a:r>
                        <a:t>High - 19</a:t>
                      </a:r>
                    </a:p>
                    <a:p>
                      <a:r>
                        <a:t>Medium - 24</a:t>
                      </a:r>
                    </a:p>
                    <a:p>
                      <a:r>
                        <a:t>Low - 6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- 5</a:t>
                      </a:r>
                    </a:p>
                    <a:p>
                      <a:r>
                        <a:t>High - 19</a:t>
                      </a:r>
                    </a:p>
                    <a:p>
                      <a:r>
                        <a:t>Medium - 19</a:t>
                      </a:r>
                    </a:p>
                    <a:p>
                      <a:r>
                        <a:t>Low - 6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- 5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- 2</a:t>
                      </a:r>
                    </a:p>
                    <a:p>
                      <a:r>
                        <a:t>High - 2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- 2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- 1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MRO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- 2</a:t>
                      </a:r>
                    </a:p>
                    <a:p>
                      <a:r>
                        <a:t>High - 7</a:t>
                      </a:r>
                    </a:p>
                    <a:p>
                      <a:r>
                        <a:t>Medium - 10</a:t>
                      </a:r>
                    </a:p>
                    <a:p>
                      <a:r>
                        <a:t>Low - 3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- 2</a:t>
                      </a:r>
                    </a:p>
                    <a:p>
                      <a:r>
                        <a:t>High - 7</a:t>
                      </a:r>
                    </a:p>
                    <a:p>
                      <a:r>
                        <a:t>Medium - 10</a:t>
                      </a:r>
                    </a:p>
                    <a:p>
                      <a:r>
                        <a:t>Low - 0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- 0</a:t>
                      </a:r>
                    </a:p>
                    <a:p>
                      <a:r>
                        <a:t>High - 0</a:t>
                      </a:r>
                    </a:p>
                    <a:p>
                      <a:r>
                        <a:t>Medium - 0</a:t>
                      </a:r>
                    </a:p>
                    <a:p>
                      <a:r>
                        <a:t>Low - 3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Top Incidents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371600"/>
          <a:ext cx="85313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838"/>
                <a:gridCol w="2132838"/>
                <a:gridCol w="2132838"/>
                <a:gridCol w="213283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Triggering file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Alert Count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Alert action taken</a:t>
                      </a:r>
                    </a:p>
                  </a:txBody>
                  <a:tcPr anchor="t"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explorer.exe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anchor="t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powershell.exe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anchor="t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DellSupportAssistRemedationService.exe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anchor="t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MRO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OmegaCut Pro .exe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4572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0000"/>
                </a:solidFill>
              </a:defRPr>
            </a:pPr>
            <a:r>
              <a:t>Note: Incident details (triggering files, actions taken) not available in combined.xlsx</a:t>
            </a:r>
          </a:p>
          <a:p>
            <a:r>
              <a:t>Requires additional detailed incident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</a:defRPr>
            </a:pPr>
            <a:r>
              <a:t>Summary of Alerts</a:t>
            </a:r>
          </a:p>
          <a:p>
            <a:r>
              <a:t>(01st Dec 25 to 07th Dec 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06984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731520"/>
                <a:gridCol w="914400"/>
                <a:gridCol w="914400"/>
                <a:gridCol w="914400"/>
                <a:gridCol w="1097280"/>
                <a:gridCol w="457200"/>
                <a:gridCol w="914400"/>
                <a:gridCol w="914400"/>
                <a:gridCol w="1371600"/>
                <a:gridCol w="2103120"/>
              </a:tblGrid>
              <a:tr h="32272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 Incidents count 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Closed Incident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WIP Incidents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Severity wise incidents count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Count of False Positive Alerts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Count of True Positive Alerts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Alert Category 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Remarks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DIAL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PUP &amp; Legitimate Non malicious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Malicious exe file accessed  &amp; Legitimate processes triggered.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PUP &amp; Legitimate Non malicious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Malicious exe file accessed  &amp; Legitimate processes triggered.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PUP &amp; Legitimate Non malicious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Malicious exe file accessed  &amp; Legitimate processes triggered.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HIAL- MRO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PUP &amp; Legitimate Non malicious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Malicious exe file accessed  &amp; Legitimate processes triggered.</a:t>
                      </a: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29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  <a:tr h="32273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5313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4472C4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